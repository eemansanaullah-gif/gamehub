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3" r:id="rId11"/>
    <p:sldId id="276" r:id="rId12"/>
    <p:sldId id="277" r:id="rId13"/>
    <p:sldId id="264" r:id="rId14"/>
    <p:sldId id="278" r:id="rId15"/>
    <p:sldId id="279" r:id="rId16"/>
    <p:sldId id="265" r:id="rId17"/>
    <p:sldId id="266" r:id="rId18"/>
    <p:sldId id="280" r:id="rId19"/>
    <p:sldId id="267" r:id="rId20"/>
    <p:sldId id="281" r:id="rId21"/>
    <p:sldId id="268" r:id="rId22"/>
    <p:sldId id="282" r:id="rId23"/>
    <p:sldId id="269" r:id="rId24"/>
    <p:sldId id="284" r:id="rId25"/>
    <p:sldId id="270" r:id="rId26"/>
    <p:sldId id="283" r:id="rId27"/>
    <p:sldId id="271" r:id="rId28"/>
    <p:sldId id="285" r:id="rId29"/>
    <p:sldId id="286" r:id="rId30"/>
    <p:sldId id="289" r:id="rId31"/>
    <p:sldId id="288" r:id="rId32"/>
    <p:sldId id="273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Top Games by Views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F2-47E7-940F-7E042FD19D8C}"/>
              </c:ext>
            </c:extLst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F2-47E7-940F-7E042FD19D8C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F2-47E7-940F-7E042FD19D8C}"/>
              </c:ext>
            </c:extLst>
          </c:dPt>
          <c:dPt>
            <c:idx val="3"/>
            <c:invertIfNegative val="0"/>
            <c:bubble3D val="0"/>
            <c:spPr>
              <a:solidFill>
                <a:srgbClr val="FFD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F2-47E7-940F-7E042FD19D8C}"/>
              </c:ext>
            </c:extLst>
          </c:dPt>
          <c:dPt>
            <c:idx val="4"/>
            <c:invertIfNegative val="0"/>
            <c:bubble3D val="0"/>
            <c:spPr>
              <a:solidFill>
                <a:srgbClr val="00FF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F2-47E7-940F-7E042FD19D8C}"/>
              </c:ext>
            </c:extLst>
          </c:dPt>
          <c:dPt>
            <c:idx val="5"/>
            <c:invertIfNegative val="0"/>
            <c:bubble3D val="0"/>
            <c:spPr>
              <a:solidFill>
                <a:srgbClr val="FF6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2F2-47E7-940F-7E042FD19D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F4F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Cyber Odyssey</c:v>
                </c:pt>
                <c:pt idx="1">
                  <c:v>Storm Legends</c:v>
                </c:pt>
                <c:pt idx="2">
                  <c:v>Eternal Kingdoms</c:v>
                </c:pt>
                <c:pt idx="3">
                  <c:v>Cursed Hollow</c:v>
                </c:pt>
                <c:pt idx="4">
                  <c:v>Phantom Strike</c:v>
                </c:pt>
                <c:pt idx="5">
                  <c:v>Desert Mirage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125000</c:v>
                </c:pt>
                <c:pt idx="1">
                  <c:v>141000</c:v>
                </c:pt>
                <c:pt idx="2">
                  <c:v>210000</c:v>
                </c:pt>
                <c:pt idx="3">
                  <c:v>113000</c:v>
                </c:pt>
                <c:pt idx="4">
                  <c:v>98000</c:v>
                </c:pt>
                <c:pt idx="5">
                  <c:v>77000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2F2-47E7-940F-7E042FD19D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B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B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88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ehub.great-site.net/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1A3050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394960" y="73152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728" y="1911096"/>
            <a:ext cx="3200400" cy="32004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502920"/>
            <a:ext cx="27432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GAMEHUB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52269" y="16596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PC Game Discovery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2331720"/>
            <a:ext cx="2194560" cy="36576"/>
          </a:xfrm>
          <a:prstGeom prst="rect">
            <a:avLst/>
          </a:prstGeom>
          <a:solidFill>
            <a:srgbClr val="6B8BA4">
              <a:alpha val="50000"/>
            </a:srgbClr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  ·  PC Compatibility Checker  ·  Gamer Partner Finder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645920" cy="8229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3017520"/>
            <a:ext cx="1645920" cy="8229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1645920" cy="8229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3017520"/>
            <a:ext cx="1645920" cy="8229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</a:t>
            </a:r>
            <a:r>
              <a:rPr lang="en-US" sz="1000" dirty="0" err="1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M.Hashim</a:t>
            </a: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Hassam  ·   Khadija  ·   Noor   ·   </a:t>
            </a:r>
            <a:r>
              <a:rPr lang="en-US" sz="1000" dirty="0" err="1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6459" y="68551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GameHub and why we built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78408"/>
            <a:ext cx="4023360" cy="292608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6576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GameHub?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platform (PHP · MySQL · HTML/CSS/JS) — an intelligent PC game discovery engine.
</a:t>
            </a: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Features: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personalised recommendations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PC compatibility checker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 partner matching system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admin control panel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Wishlist, reviews &amp; game catalogue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83198"/>
            <a:ext cx="3931920" cy="132588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7794" y="989149"/>
            <a:ext cx="36576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3792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437929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59236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59853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 · REST APIs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77770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179969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9351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957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54441" y="2443407"/>
            <a:ext cx="3931920" cy="146304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441" y="2443407"/>
            <a:ext cx="36576" cy="146304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91381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PHP/HTML/JS/CSS source files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database tables, 20 seed games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User role separation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design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59936"/>
            <a:ext cx="1920240" cy="105156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59936"/>
            <a:ext cx="36576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2336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75488" y="47823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0330" y="4051881"/>
            <a:ext cx="1920240" cy="105156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23160" y="4051881"/>
            <a:ext cx="36576" cy="10515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32888" y="42336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532888" y="47823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99428" y="4051880"/>
            <a:ext cx="1919659" cy="1115205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6438" y="4059936"/>
            <a:ext cx="36576" cy="105156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42336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590288" y="47823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4059936"/>
            <a:ext cx="1920240" cy="105156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37960" y="4059936"/>
            <a:ext cx="36576" cy="10515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47688" y="42336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647688" y="47823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Games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33756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384048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9768" y="1508760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2704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856232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745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games.html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203704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2219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game_detail.html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2551176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56946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2898648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91693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register.html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3246120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26440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wishlist.html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" y="3593592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611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partner_finder.html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" y="3941064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95935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compatibility_checker.html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1051560"/>
            <a:ext cx="2743200" cy="333756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051560"/>
            <a:ext cx="2743200" cy="38404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55848" y="1508760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152704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recommendation.php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1856232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18745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compatibility.php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55848" y="2203704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22219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partner_match.php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55848" y="2551176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256946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admin.php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55848" y="2898648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291693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review_process.php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55848" y="3246120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326440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wishlist_process.php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55848" y="3593592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3611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session_check.php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55848" y="3941064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395935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partner_requests.php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1051560"/>
            <a:ext cx="2743200" cy="333756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1051560"/>
            <a:ext cx="2743200" cy="384048"/>
          </a:xfrm>
          <a:prstGeom prst="rect">
            <a:avLst/>
          </a:prstGeom>
          <a:solidFill>
            <a:srgbClr val="FF0080">
              <a:alpha val="25000"/>
            </a:srgbClr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81928" y="1508760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152704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81928" y="1856232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18745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81928" y="2203704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22219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table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81928" y="2551176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256946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table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81928" y="2898648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6792" y="291693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table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81928" y="3246120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36792" y="326440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gamer_profiles table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81928" y="3593592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3611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partner_requests table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81928" y="3941064"/>
            <a:ext cx="2523744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6792" y="395935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db.php connector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063240" y="2651760"/>
            <a:ext cx="182880" cy="0"/>
          </a:xfrm>
          <a:prstGeom prst="line">
            <a:avLst/>
          </a:prstGeom>
          <a:noFill/>
          <a:ln w="19050">
            <a:solidFill>
              <a:srgbClr val="6B8BA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7180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8BA4"/>
                </a:solidFill>
              </a:rPr>
              <a:t>⟷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5989320" y="2651760"/>
            <a:ext cx="182880" cy="0"/>
          </a:xfrm>
          <a:prstGeom prst="line">
            <a:avLst/>
          </a:prstGeom>
          <a:noFill/>
          <a:ln w="19050">
            <a:solidFill>
              <a:srgbClr val="6B8BA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9788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8BA4"/>
                </a:solidFill>
              </a:rPr>
              <a:t>⟷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7 tables with foreign key relationships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18288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9748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698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453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6824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911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1396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password_hash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3682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(admin/user)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596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favorite_genres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6791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697480" cy="182880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73596"/>
            <a:ext cx="2697480" cy="347472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0698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1453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55848" y="16824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55848" y="1911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55848" y="21396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55848" y="23682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55848" y="2596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release_date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26791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more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2697480" cy="182880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051560"/>
            <a:ext cx="2697480" cy="347472"/>
          </a:xfrm>
          <a:prstGeom prst="rect">
            <a:avLst/>
          </a:prstGeom>
          <a:solidFill>
            <a:srgbClr val="FF0080">
              <a:alpha val="30000"/>
            </a:srgbClr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10698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1453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81928" y="16824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81928" y="1911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game_id (FK)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81928" y="21396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 (1-5)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81928" y="23682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81928" y="2596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is_approved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81928" y="26791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more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3108960"/>
            <a:ext cx="2057400" cy="182880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108960"/>
            <a:ext cx="2057400" cy="347472"/>
          </a:xfrm>
          <a:prstGeom prst="rect">
            <a:avLst/>
          </a:prstGeom>
          <a:solidFill>
            <a:srgbClr val="FFD700">
              <a:alpha val="3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127248"/>
            <a:ext cx="194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35112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9768" y="37398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9768" y="39684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game_id (FK)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9768" y="41970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added_at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68880" y="3108960"/>
            <a:ext cx="2057400" cy="18288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68880" y="3108960"/>
            <a:ext cx="2057400" cy="347472"/>
          </a:xfrm>
          <a:prstGeom prst="rect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1432" y="3127248"/>
            <a:ext cx="194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GAMER_PROFILES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78608" y="35112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profile_id (PK)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78608" y="37398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78608" y="39684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favorite_game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78608" y="41970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playing_time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578608" y="44256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play_style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78608" y="46542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17720" y="3108960"/>
            <a:ext cx="2057400" cy="1828800"/>
          </a:xfrm>
          <a:prstGeom prst="rect">
            <a:avLst/>
          </a:prstGeom>
          <a:solidFill>
            <a:srgbClr val="0F1A2E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3108960"/>
            <a:ext cx="2057400" cy="347472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0872" y="3127248"/>
            <a:ext cx="194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27448" y="35112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27448" y="37398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727448" y="39684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27448" y="41970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</a:t>
            </a:r>
            <a:endParaRPr lang="en-US" sz="850" dirty="0"/>
          </a:p>
        </p:txBody>
      </p:sp>
      <p:sp>
        <p:nvSpPr>
          <p:cNvPr id="200" name="Shape PR_bg"/>
          <p:cNvSpPr/>
          <p:nvPr/>
        </p:nvSpPr>
        <p:spPr>
          <a:xfrm>
            <a:off x="6766560" y="3108960"/>
            <a:ext cx="2057400" cy="182880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1" name="Shape PR_header_bg"/>
          <p:cNvSpPr/>
          <p:nvPr/>
        </p:nvSpPr>
        <p:spPr>
          <a:xfrm>
            <a:off x="6766560" y="3108960"/>
            <a:ext cx="2057400" cy="347472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2" name="Text PR_header"/>
          <p:cNvSpPr/>
          <p:nvPr/>
        </p:nvSpPr>
        <p:spPr>
          <a:xfrm>
            <a:off x="6839712" y="3127248"/>
            <a:ext cx="194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PARTNER_REQUESTS</a:t>
            </a:r>
            <a:endParaRPr lang="en-US" sz="1000" dirty="0"/>
          </a:p>
        </p:txBody>
      </p:sp>
      <p:sp>
        <p:nvSpPr>
          <p:cNvPr id="203" name="Text PR_f1"/>
          <p:cNvSpPr/>
          <p:nvPr/>
        </p:nvSpPr>
        <p:spPr>
          <a:xfrm>
            <a:off x="6876288" y="35112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</a:rPr>
              <a:t>• id (PK)</a:t>
            </a:r>
            <a:endParaRPr lang="en-US" sz="850" dirty="0"/>
          </a:p>
        </p:txBody>
      </p:sp>
      <p:sp>
        <p:nvSpPr>
          <p:cNvPr id="204" name="Text PR_f2"/>
          <p:cNvSpPr/>
          <p:nvPr/>
        </p:nvSpPr>
        <p:spPr>
          <a:xfrm>
            <a:off x="6876288" y="37398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</a:rPr>
              <a:t>• sender_id (FK)</a:t>
            </a:r>
            <a:endParaRPr lang="en-US" sz="850" dirty="0"/>
          </a:p>
        </p:txBody>
      </p:sp>
      <p:sp>
        <p:nvSpPr>
          <p:cNvPr id="205" name="Text PR_f3"/>
          <p:cNvSpPr/>
          <p:nvPr/>
        </p:nvSpPr>
        <p:spPr>
          <a:xfrm>
            <a:off x="6876288" y="39684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</a:rPr>
              <a:t>• receiver_id (FK)</a:t>
            </a:r>
            <a:endParaRPr lang="en-US" sz="850" dirty="0"/>
          </a:p>
        </p:txBody>
      </p:sp>
      <p:sp>
        <p:nvSpPr>
          <p:cNvPr id="206" name="Text PR_f4"/>
          <p:cNvSpPr/>
          <p:nvPr/>
        </p:nvSpPr>
        <p:spPr>
          <a:xfrm>
            <a:off x="6876288" y="41970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</a:rPr>
              <a:t>• message</a:t>
            </a:r>
            <a:endParaRPr lang="en-US" sz="850" dirty="0"/>
          </a:p>
        </p:txBody>
      </p:sp>
      <p:sp>
        <p:nvSpPr>
          <p:cNvPr id="207" name="Text PR_f5"/>
          <p:cNvSpPr/>
          <p:nvPr/>
        </p:nvSpPr>
        <p:spPr>
          <a:xfrm>
            <a:off x="6876288" y="4425696"/>
            <a:ext cx="194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</a:rPr>
              <a:t>• status ENUM</a:t>
            </a:r>
            <a:endParaRPr lang="en-US" sz="850" dirty="0"/>
          </a:p>
        </p:txBody>
      </p:sp>
      <p:sp>
        <p:nvSpPr>
          <p:cNvPr id="208" name="Text PR_more"/>
          <p:cNvSpPr/>
          <p:nvPr/>
        </p:nvSpPr>
        <p:spPr>
          <a:xfrm>
            <a:off x="6876288" y="4654296"/>
            <a:ext cx="194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855F7"/>
                </a:solidFill>
                <a:latin typeface="Calibri" pitchFamily="34" charset="0"/>
              </a:rPr>
              <a:t>+ created_at, updated_at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breakdown across user roles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36576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games, genre browse, featured content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14300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143000"/>
            <a:ext cx="36576" cy="10789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by genre, sort by rating/date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09744" y="114300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1143000"/>
            <a:ext cx="36576" cy="1078992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76672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Detail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info, reviews, PC reqs, ⚡ cracked link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77456" y="114300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77456" y="1143000"/>
            <a:ext cx="36576" cy="10789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44384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87184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Role-based sessions (admin/user)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42316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423160"/>
            <a:ext cx="36576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" y="2514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recs, stats, wishlist overview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42032" y="242316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42032" y="2423160"/>
            <a:ext cx="36576" cy="10789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108960" y="2514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5176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games, manage collection, remove items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9744" y="242316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9744" y="2423160"/>
            <a:ext cx="36576" cy="1078992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76672" y="2514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Compatibility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specs → instant compatibility score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77456" y="242316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77456" y="2423160"/>
            <a:ext cx="36576" cy="10789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87184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644384" y="2514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Finder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87184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gamers by play style, time, favourite game. Send/accept partner requests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70332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3703320"/>
            <a:ext cx="36576" cy="10789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41248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4048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user/game/review management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42032" y="370332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42032" y="3703320"/>
            <a:ext cx="36576" cy="107899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10896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Games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517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games, cracked URL, trending flag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09744" y="370332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09744" y="3703320"/>
            <a:ext cx="36576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9472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376672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19472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ban/unban, role management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077456" y="3703320"/>
            <a:ext cx="2103120" cy="1078992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077456" y="3703320"/>
            <a:ext cx="36576" cy="10789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87184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644384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Reviews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87184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moderate community reviews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00D4FF">
              <a:alpha val="2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91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Management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114800" cy="292608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Responsibilities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3749040" cy="43891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40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615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email, bcrypt password hashing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907792"/>
            <a:ext cx="3749040" cy="43891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26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1272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sessions, role detection (admin/user)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19856"/>
            <a:ext cx="3749040" cy="43891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4381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6393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locked to admin role 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3749040" cy="43891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50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151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session_check.php API · logout with redirect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883664"/>
            <a:ext cx="3931920" cy="132588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874520"/>
            <a:ext cx="36576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Files Handled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28832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login.html + php/login.php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4869" y="248637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register.html + php/register.php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6624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php/session_check.php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2848937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php/logout.php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3284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php/db.php (startSession)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337560"/>
            <a:ext cx="3931920" cy="146304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337560"/>
            <a:ext cx="36576" cy="14630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DB Table: users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username, email, password_hash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059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ENUM('user','admin')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is_banned, last_login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4498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favorite_genres, avatar_url, bio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00D4FF">
              <a:alpha val="2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98448" y="413077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Management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 UI + Flow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384048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3017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93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Login Screen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395728"/>
            <a:ext cx="338328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0487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address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816352"/>
            <a:ext cx="338328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2549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Password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273552"/>
            <a:ext cx="338328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30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an account?  Register here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0965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credentials: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admin@gamehub.com / admin123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neon@gamehub.com / gamer123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0" y="1874520"/>
            <a:ext cx="438912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1874520"/>
            <a:ext cx="36576" cy="3017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Auth Flow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395728"/>
            <a:ext cx="320040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24048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submits login form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89320" y="26883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724912"/>
            <a:ext cx="320040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734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POST → php/login.php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89320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</a:rPr>
              <a:t>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054096"/>
            <a:ext cx="320040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30632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password_verify() bcrypt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89320" y="33467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383280"/>
            <a:ext cx="320040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33924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$_SESSION set (id, role, username)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89320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</a:rPr>
              <a:t>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712464"/>
            <a:ext cx="320040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372160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session_check.php validates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89320" y="4005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</a:rPr>
              <a:t>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041648"/>
            <a:ext cx="320040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40507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Admin → admin_dashboard.php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89320" y="43342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</a:rPr>
              <a:t>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370832"/>
            <a:ext cx="320040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43799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User → dashboard.html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login screen  Description automatically generated">
            <a:extLst>
              <a:ext uri="{FF2B5EF4-FFF2-40B4-BE49-F238E27FC236}">
                <a16:creationId xmlns:a16="http://schemas.microsoft.com/office/drawing/2014/main" id="{81E7E2CB-B0A7-48B2-A784-3DB1657CA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80402"/>
            <a:ext cx="8178799" cy="378269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2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video game login  Description automatically generated">
            <a:extLst>
              <a:ext uri="{FF2B5EF4-FFF2-40B4-BE49-F238E27FC236}">
                <a16:creationId xmlns:a16="http://schemas.microsoft.com/office/drawing/2014/main" id="{0BCF89BE-3960-4E57-B8CA-ACA4F86B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80402"/>
            <a:ext cx="8178799" cy="378269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02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069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Catalogue, Detail Page &amp; Reviews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Catalogue &amp; Detail Page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023360" cy="292608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2926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Catalogue (games.html)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3749040" cy="384048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40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6060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title, genre, rating — live search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3749040" cy="384048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712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Options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063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Newest, top rated, most viewed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310128"/>
            <a:ext cx="3749040" cy="384048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28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5204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image, genre badge, rating stars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3749040" cy="384048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7856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Detail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39776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description, PC reqs, reviews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3749040" cy="384048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2428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Cracked Link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44348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button if admin set a URL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1874520"/>
            <a:ext cx="3977640" cy="292608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874520"/>
            <a:ext cx="36576" cy="292608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93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Game Card UI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395728"/>
            <a:ext cx="3520440" cy="12344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450592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🎮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5961888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Odyssey 2049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61888" y="28346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61888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4.8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730752"/>
            <a:ext cx="352044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7307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 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4114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recommendation.php?action=all_games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 via JS fetch with query params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8903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413970"/>
            <a:ext cx="8249304" cy="40499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video game  Description automatically generated">
            <a:extLst>
              <a:ext uri="{FF2B5EF4-FFF2-40B4-BE49-F238E27FC236}">
                <a16:creationId xmlns:a16="http://schemas.microsoft.com/office/drawing/2014/main" id="{6A844F59-F3AD-4090-8DEE-1001BD8E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1" r="1978" b="2"/>
          <a:stretch>
            <a:fillRect/>
          </a:stretch>
        </p:blipFill>
        <p:spPr>
          <a:xfrm>
            <a:off x="628650" y="565611"/>
            <a:ext cx="7886700" cy="3746681"/>
          </a:xfrm>
          <a:prstGeom prst="rect">
            <a:avLst/>
          </a:prstGeom>
        </p:spPr>
      </p:pic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4747326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98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8903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413970"/>
            <a:ext cx="8249304" cy="40499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 Description automatically generated">
            <a:extLst>
              <a:ext uri="{FF2B5EF4-FFF2-40B4-BE49-F238E27FC236}">
                <a16:creationId xmlns:a16="http://schemas.microsoft.com/office/drawing/2014/main" id="{76AA7692-3A35-4BD5-AA9A-A75CFC83A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7" r="2" b="2"/>
          <a:stretch>
            <a:fillRect/>
          </a:stretch>
        </p:blipFill>
        <p:spPr>
          <a:xfrm>
            <a:off x="628650" y="565611"/>
            <a:ext cx="7886700" cy="374668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4747326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013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-14514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160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Catalogue, Detail Page &amp; Reviews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System &amp; Cracked Link Feature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397764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3017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Reviews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356616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50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83080" y="2450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review_process.php, 1 per user/game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62072"/>
            <a:ext cx="356616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89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89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stars, validated server-side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300984"/>
            <a:ext cx="356616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3284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moderate all reviews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739896"/>
            <a:ext cx="356616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7673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Votes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3767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upvote/downvote reviews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178808"/>
            <a:ext cx="356616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83080" y="4206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(user_id FK, game_id FK)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874520"/>
            <a:ext cx="402336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39FF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874520"/>
            <a:ext cx="36576" cy="30175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Cracked Version Feature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4231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sets a download URL per game in the Add/Edit Game page
</a:t>
            </a: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game detail page, if cracked_link is set:
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pulsing green ⚡ badge appears
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'Cracked Version Available' label shown
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button links to the URL
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shown below button
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column: cracked_link VARCHAR(500) in games table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462272"/>
            <a:ext cx="3520440" cy="347472"/>
          </a:xfrm>
          <a:prstGeom prst="rect">
            <a:avLst/>
          </a:prstGeom>
          <a:solidFill>
            <a:srgbClr val="39FF14">
              <a:alpha val="85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434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Download Cracked Version  ↗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8903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413970"/>
            <a:ext cx="8249304" cy="40499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 screenshot of a computer  Description automatically generated">
            <a:extLst>
              <a:ext uri="{FF2B5EF4-FFF2-40B4-BE49-F238E27FC236}">
                <a16:creationId xmlns:a16="http://schemas.microsoft.com/office/drawing/2014/main" id="{6D970656-3165-456C-B73F-DE43E0E58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99" b="2"/>
          <a:stretch>
            <a:fillRect/>
          </a:stretch>
        </p:blipFill>
        <p:spPr>
          <a:xfrm>
            <a:off x="628650" y="565611"/>
            <a:ext cx="7886700" cy="374668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4747326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020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screen  Description automatically generated">
            <a:extLst>
              <a:ext uri="{FF2B5EF4-FFF2-40B4-BE49-F238E27FC236}">
                <a16:creationId xmlns:a16="http://schemas.microsoft.com/office/drawing/2014/main" id="{6BDBAFF1-1AF2-4D90-AC43-0341E209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577" y="482600"/>
            <a:ext cx="3206844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11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FF0080">
              <a:alpha val="20000"/>
            </a:srgbClr>
          </a:solidFill>
          <a:ln w="25400">
            <a:solidFill>
              <a:srgbClr val="FF0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&amp; User Dashboard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FF0080">
              <a:alpha val="40000"/>
            </a:srgbClr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Engine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5394960" cy="292608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292608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Recommendation Algorithm Works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507492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session reads user.favorite_genres from 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507492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16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queries games WHERE genre IN (user genres)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182112"/>
            <a:ext cx="507492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09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3209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games already in user's wishlist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75304"/>
            <a:ext cx="507492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027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3602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avg(review rating) DESC, release_date DESC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968496"/>
            <a:ext cx="507492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995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3995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 12 personalised games as JSON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361688"/>
            <a:ext cx="5074920" cy="320040"/>
          </a:xfrm>
          <a:prstGeom prst="rect">
            <a:avLst/>
          </a:prstGeom>
          <a:solidFill>
            <a:srgbClr val="060A14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389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logged in → top trending + highest rated games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1874520"/>
            <a:ext cx="2834640" cy="292608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1874520"/>
            <a:ext cx="36576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2395728"/>
            <a:ext cx="246888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2414016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?action=get_recommendations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0" y="2743200"/>
            <a:ext cx="246888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276148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?action=trending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3090672"/>
            <a:ext cx="246888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3108960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?action=new_releases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438144"/>
            <a:ext cx="246888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345643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?action=by_genre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3785616"/>
            <a:ext cx="246888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3803904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?action=search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4133088"/>
            <a:ext cx="246888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4151376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?action=game_detail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4480560"/>
            <a:ext cx="2468880" cy="274320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449884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?action=all_games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FF0080">
              <a:alpha val="20000"/>
            </a:srgbClr>
          </a:solidFill>
          <a:ln w="25400">
            <a:solidFill>
              <a:srgbClr val="FF0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3398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&amp; User Dashboard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FF0080">
              <a:alpha val="40000"/>
            </a:srgbClr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20624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96012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Stats Panel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3134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count, reviews written, genres explored, member since 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874520"/>
            <a:ext cx="420624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874520"/>
            <a:ext cx="36576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Recommendations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134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game grid based on favourite genres, excludes wishlisted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420624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71800"/>
            <a:ext cx="36576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44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Trending Now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4107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games by views + trending flag, shown as horizontal card row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420624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971800"/>
            <a:ext cx="36576" cy="9601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44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My Wishlist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107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first 4 wishlist items with quick-remove option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420624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069080"/>
            <a:ext cx="36576" cy="9601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42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Leaderboard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5079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gamers by activity, reviews, wishlist size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4069080"/>
            <a:ext cx="4206240" cy="9601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4069080"/>
            <a:ext cx="36576" cy="9601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142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Profile Setup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5079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favourite genres → drives recommendation engine personalisation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 Description automatically generated">
            <a:extLst>
              <a:ext uri="{FF2B5EF4-FFF2-40B4-BE49-F238E27FC236}">
                <a16:creationId xmlns:a16="http://schemas.microsoft.com/office/drawing/2014/main" id="{C47A265D-1F3B-4737-AC94-549440A30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70179"/>
            <a:ext cx="8178799" cy="38031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6878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FFD700">
              <a:alpha val="20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343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Compatibility Checker &amp; Partner Finder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Compatibility Checker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502920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30175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Compatibility Scoring Works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inputs: RAM (GB), GPU model, CPU model, Storage
</a:t>
            </a: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Algorithm:
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score: user RAM vs game min_ram → 0-30 pts
GPU score: text matching + tier lookup → 0-40 pts
CPU score: i3/i5/i7/i9 / Ryzen tier → 0-20 pts
Storage score: free vs required → 0-10 pts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Levels:
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Great  (90-100) · Runs Well (70-89)
Runs OK (50-69) · Struggles (30-49) · Won't Run (&lt;30)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874520"/>
            <a:ext cx="320040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1874520"/>
            <a:ext cx="36576" cy="3017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Score Display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2423160"/>
            <a:ext cx="283464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2441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Great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269480" y="2441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2880360"/>
            <a:ext cx="283464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898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Well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69480" y="2898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3337560"/>
            <a:ext cx="283464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3355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69480" y="3355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50-69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3794760"/>
            <a:ext cx="283464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3813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69480" y="3813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4251960"/>
            <a:ext cx="2834640" cy="347472"/>
          </a:xfrm>
          <a:prstGeom prst="rect">
            <a:avLst/>
          </a:prstGeom>
          <a:solidFill>
            <a:srgbClr val="060A14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42702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Run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4270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 screenshot of a computer  Description automatically generated">
            <a:extLst>
              <a:ext uri="{FF2B5EF4-FFF2-40B4-BE49-F238E27FC236}">
                <a16:creationId xmlns:a16="http://schemas.microsoft.com/office/drawing/2014/main" id="{0F04D53C-6035-4B07-9A47-FA0323FE6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80402"/>
            <a:ext cx="8178799" cy="378269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41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FFD700">
              <a:alpha val="20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08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Compatibility Checker &amp; Partner Finder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 Partner Finder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502920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30175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Matching Algorithm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profile: play style, playing time, favourite game
</a:t>
            </a: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(out of 100):
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play_style → 40 points
Same playing_time → 30 points
Same favorite_game → 20 points
Random noise (0-9 pts) for tie-breaking
Play Styles: casual, competitive, cooperative, </a:t>
            </a:r>
            <a:r>
              <a:rPr lang="en-US" sz="10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speedrun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roleplay
Playing Times: mornings, afternoons, evenings, late night, weekends, flexible
Request System: Send/Accept/Reject partner requests — stored in partner_requests table with status tracking (pending/accepted/rejected)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874520"/>
            <a:ext cx="320040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1874520"/>
            <a:ext cx="36576" cy="3017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Partner Card 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450592"/>
            <a:ext cx="594360" cy="594360"/>
          </a:xfrm>
          <a:prstGeom prst="ellipse">
            <a:avLst/>
          </a:prstGeom>
          <a:solidFill>
            <a:srgbClr val="A855F7">
              <a:alpha val="3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450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2514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NeonSword99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95% Match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320040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86600" y="320040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06440" y="3611880"/>
            <a:ext cx="1143000" cy="2743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Strike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806440" y="4005072"/>
            <a:ext cx="2880360" cy="31089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40050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 →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video game  Description automatically generated">
            <a:extLst>
              <a:ext uri="{FF2B5EF4-FFF2-40B4-BE49-F238E27FC236}">
                <a16:creationId xmlns:a16="http://schemas.microsoft.com/office/drawing/2014/main" id="{2E3B9DD6-394E-44E1-985C-C3BBF685C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70179"/>
            <a:ext cx="8178799" cy="380314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28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00FF88">
              <a:alpha val="20000"/>
            </a:srgbClr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3703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 &amp; Analytics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Management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4206240" cy="932688"/>
          </a:xfrm>
          <a:prstGeom prst="rect">
            <a:avLst/>
          </a:prstGeom>
          <a:solidFill>
            <a:srgbClr val="0F1A2E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01952"/>
            <a:ext cx="36576" cy="93268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933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Admin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stats: total games, users, reviews, views. Activity charts.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901952"/>
            <a:ext cx="4206240" cy="932688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901952"/>
            <a:ext cx="36576" cy="9326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933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Manage Games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games. Set cracked URL. Trending toggle. Cover upload.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80944"/>
            <a:ext cx="4206240" cy="932688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80944"/>
            <a:ext cx="36576" cy="9326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7238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Manage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419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users. Ban/Unban. View role. Filter by status.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980944"/>
            <a:ext cx="4206240" cy="932688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980944"/>
            <a:ext cx="36576" cy="9326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7238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Manage Reviews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19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reviews. Approve/Reject. See helpful vote counts.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059936"/>
            <a:ext cx="4206240" cy="932688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059936"/>
            <a:ext cx="36576" cy="932688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Categories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498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game genres. Icon assignment for each category.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4059936"/>
            <a:ext cx="4206240" cy="932688"/>
          </a:xfrm>
          <a:prstGeom prst="rect">
            <a:avLst/>
          </a:prstGeom>
          <a:solidFill>
            <a:srgbClr val="0F1A2E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4059936"/>
            <a:ext cx="36576" cy="9326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1513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Analytics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498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games by views, genre distribution pie chart, user growth.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A4E63-D775-4EBE-ACE8-A1FC19BD6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80402"/>
            <a:ext cx="8178799" cy="378269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26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"/>
            <a:ext cx="777240" cy="777240"/>
          </a:xfrm>
          <a:prstGeom prst="ellipse">
            <a:avLst/>
          </a:prstGeom>
          <a:solidFill>
            <a:srgbClr val="00FF88">
              <a:alpha val="20000"/>
            </a:srgbClr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343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 &amp; Analytics Module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1280160"/>
            <a:ext cx="9144000" cy="2286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Game Page &amp; Analytics Charts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023360" cy="3017520"/>
          </a:xfrm>
          <a:prstGeom prst="rect">
            <a:avLst/>
          </a:prstGeom>
          <a:solidFill>
            <a:srgbClr val="0F1A2E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30175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Add Game Page (add_game.php)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3657600" cy="329184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957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Genre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3957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genre dropdown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779776"/>
            <a:ext cx="3657600" cy="329184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798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27980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Textarea, resizable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182112"/>
            <a:ext cx="3657600" cy="329184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00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Cracked URL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2004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green section — always visible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584448"/>
            <a:ext cx="3657600" cy="329184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027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Image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36027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 or paste URL with preview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986784"/>
            <a:ext cx="3657600" cy="329184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Requirements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11680" y="40050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RAM, Storage, GPU, CPU fields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3657600" cy="329184"/>
          </a:xfrm>
          <a:prstGeom prst="rect">
            <a:avLst/>
          </a:prstGeom>
          <a:solidFill>
            <a:srgbClr val="060A14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4074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Flag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44074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at bottom of form</a:t>
            </a:r>
            <a:endParaRPr lang="en-US" sz="8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4572000" y="1874520"/>
          <a:ext cx="4206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ACB90-F061-4E16-B5B8-8B20E3ECB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90625"/>
            <a:ext cx="8178799" cy="376224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45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game collection management — wishlist.html + php/wishlist_process.php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41732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6576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Add to Wishlist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from game card or detail page. Prevents duplicates (UNIQUE KEY).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206240" cy="14173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36576" cy="141732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52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Remove from Wishlist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733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instantly via DELETE request to wishlist_process.php.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206240" cy="141732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36576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Wishlist Page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all saved games with cover, genre, rating, remove button.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206240" cy="141732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743200"/>
            <a:ext cx="36576" cy="14173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Guard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login — redirects to login.html if no session found.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wishlist (id, user_id FK, game_id FK, added_at)  ·  UNIQUE KEY on (user_id, game_id)  ·  CASCADE DELETE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 Description automatically generated">
            <a:extLst>
              <a:ext uri="{FF2B5EF4-FFF2-40B4-BE49-F238E27FC236}">
                <a16:creationId xmlns:a16="http://schemas.microsoft.com/office/drawing/2014/main" id="{3710F616-D57F-4A95-AB76-A3AD7493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721296"/>
            <a:ext cx="8178799" cy="370090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43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914400" y="2926080"/>
            <a:ext cx="2560320" cy="2560320"/>
          </a:xfrm>
          <a:prstGeom prst="ellipse">
            <a:avLst/>
          </a:prstGeom>
          <a:solidFill>
            <a:srgbClr val="A855F7">
              <a:alpha val="7000"/>
            </a:srgbClr>
          </a:solidFill>
          <a:ln w="12700">
            <a:solidFill>
              <a:srgbClr val="A855F7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0" y="1371600"/>
            <a:ext cx="1371600" cy="1371600"/>
          </a:xfrm>
          <a:prstGeom prst="ellipse">
            <a:avLst/>
          </a:prstGeom>
          <a:solidFill>
            <a:srgbClr val="FF0080">
              <a:alpha val="5000"/>
            </a:srgbClr>
          </a:solidFill>
          <a:ln w="12700">
            <a:solidFill>
              <a:srgbClr val="FF0080">
                <a:alpha val="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LIVE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00D4FF"/>
                </a:solidFill>
                <a:latin typeface="Calibri"/>
              </a:rPr>
              <a:t>Visit the deployed </a:t>
            </a:r>
            <a:r>
              <a:rPr sz="1200" b="0" i="0" dirty="0" err="1">
                <a:solidFill>
                  <a:srgbClr val="00D4FF"/>
                </a:solidFill>
                <a:latin typeface="Calibri"/>
              </a:rPr>
              <a:t>GameHub</a:t>
            </a:r>
            <a:r>
              <a:rPr sz="1200" b="0" i="0" dirty="0">
                <a:solidFill>
                  <a:srgbClr val="00D4FF"/>
                </a:solidFill>
                <a:latin typeface="Calibri"/>
              </a:rPr>
              <a:t> platform — live and running online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3337560"/>
          </a:xfrm>
          <a:prstGeom prst="rect">
            <a:avLst/>
          </a:prstGeom>
          <a:solidFill>
            <a:srgbClr val="0F1A2E"/>
          </a:solidFill>
          <a:ln w="1905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solidFill>
            <a:srgbClr val="111D33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8" y="1307592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1307592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70432" y="1307592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17320" y="1234440"/>
            <a:ext cx="5577840" cy="329184"/>
          </a:xfrm>
          <a:prstGeom prst="roundRect">
            <a:avLst/>
          </a:prstGeom>
          <a:solidFill>
            <a:srgbClr val="0D152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08760" y="1234440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9FF14"/>
                </a:solidFill>
                <a:latin typeface="Calibri"/>
              </a:rPr>
              <a:t>HTTPS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24358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https://gamehub.great-site.net/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24358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8BA4"/>
                </a:solidFill>
                <a:latin typeface="Calibri"/>
              </a:rPr>
              <a:t>-&gt;|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627632"/>
            <a:ext cx="8229600" cy="411480"/>
          </a:xfrm>
          <a:prstGeom prst="rect">
            <a:avLst/>
          </a:prstGeom>
          <a:solidFill>
            <a:srgbClr val="060D1A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1664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GAMEHUB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82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A5068"/>
                </a:solidFill>
                <a:latin typeface="Calibri"/>
              </a:rPr>
              <a:t>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1682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A5068"/>
                </a:solidFill>
                <a:latin typeface="Calibri"/>
              </a:rPr>
              <a:t>GAMES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1682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A5068"/>
                </a:solidFill>
                <a:latin typeface="Calibri"/>
              </a:rPr>
              <a:t>WISHLIST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1682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A5068"/>
                </a:solidFill>
                <a:latin typeface="Calibri"/>
              </a:rPr>
              <a:t>PC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1682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A5068"/>
                </a:solidFill>
                <a:latin typeface="Calibri"/>
              </a:rPr>
              <a:t>PARTNER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700784"/>
            <a:ext cx="1005840" cy="25603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17007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F1E"/>
                </a:solidFill>
                <a:latin typeface="Calibri"/>
              </a:rPr>
              <a:t>LOGIN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984248"/>
            <a:ext cx="8229600" cy="2468880"/>
          </a:xfrm>
          <a:prstGeom prst="rect">
            <a:avLst/>
          </a:prstGeom>
          <a:solidFill>
            <a:srgbClr val="070E1C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21762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FD"/>
                </a:solidFill>
                <a:latin typeface="Calibri"/>
              </a:rPr>
              <a:t>Discover Your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57860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Next Epic Game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1272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5068"/>
                </a:solidFill>
                <a:latin typeface="Calibri"/>
              </a:rPr>
              <a:t>AI-Powered Recommendations  .  PC Compatibility  .  Partner Finder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3493008"/>
            <a:ext cx="1463040" cy="329184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349300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F1E"/>
                </a:solidFill>
                <a:latin typeface="Calibri"/>
              </a:rPr>
              <a:t>Explore Games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8608" y="3493008"/>
            <a:ext cx="1463040" cy="329184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78608" y="349300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F4FD"/>
                </a:solidFill>
                <a:latin typeface="Calibri"/>
              </a:rPr>
              <a:t>Join Free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121408"/>
            <a:ext cx="1737360" cy="777240"/>
          </a:xfrm>
          <a:prstGeom prst="rect">
            <a:avLst/>
          </a:prstGeom>
          <a:solidFill>
            <a:srgbClr val="0D1A2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77840" y="21762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855F7"/>
                </a:solidFill>
                <a:latin typeface="Calibri"/>
              </a:rPr>
              <a:t>RPG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395727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4FD"/>
                </a:solidFill>
                <a:latin typeface="Calibri"/>
              </a:rPr>
              <a:t>Cyber Odyssey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26517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D700"/>
                </a:solidFill>
                <a:latin typeface="Calibri"/>
              </a:rPr>
              <a:t>★★★★★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2377440"/>
            <a:ext cx="1737360" cy="777240"/>
          </a:xfrm>
          <a:prstGeom prst="rect">
            <a:avLst/>
          </a:prstGeom>
          <a:solidFill>
            <a:srgbClr val="0D1A2B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0840" y="24323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0080"/>
                </a:solidFill>
                <a:latin typeface="Calibri"/>
              </a:rPr>
              <a:t>FPS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265176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4FD"/>
                </a:solidFill>
                <a:latin typeface="Calibri"/>
              </a:rPr>
              <a:t>Phantom Strike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290779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D700"/>
                </a:solidFill>
                <a:latin typeface="Calibri"/>
              </a:rPr>
              <a:t>★★★★★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246120"/>
            <a:ext cx="1737360" cy="777240"/>
          </a:xfrm>
          <a:prstGeom prst="rect">
            <a:avLst/>
          </a:prstGeom>
          <a:solidFill>
            <a:srgbClr val="0D1A2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5040" y="33009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D4FF"/>
                </a:solidFill>
                <a:latin typeface="Calibri"/>
              </a:rPr>
              <a:t>RACING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52043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4FD"/>
                </a:solidFill>
                <a:latin typeface="Calibri"/>
              </a:rPr>
              <a:t>Neon Racer 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377647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D700"/>
                </a:solidFill>
                <a:latin typeface="Calibri"/>
              </a:rPr>
              <a:t>★★★★★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63731" y="4544568"/>
            <a:ext cx="8229600" cy="54864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4718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8BA4"/>
                </a:solidFill>
                <a:latin typeface="Calibri"/>
              </a:rPr>
              <a:t>LIVE 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9194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3A5068"/>
                </a:solidFill>
                <a:latin typeface="Calibri"/>
              </a:rPr>
              <a:t>Click to open in browser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3480" y="4727448"/>
            <a:ext cx="25170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00D4FF"/>
                </a:solidFill>
                <a:latin typeface="Calibri"/>
                <a:hlinkClick r:id="rId2"/>
              </a:rPr>
              <a:t>https://gamehub.gamer.free</a:t>
            </a:r>
            <a:r>
              <a:rPr sz="1400" b="1" dirty="0">
                <a:solidFill>
                  <a:srgbClr val="00D4FF"/>
                </a:solidFill>
                <a:latin typeface="Calibri"/>
                <a:hlinkClick r:id="rId2"/>
              </a:rPr>
              <a:t>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773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  <a:latin typeface="Calibri"/>
              </a:rPr>
              <a:t>OPEN -&gt;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914400" y="2926080"/>
            <a:ext cx="2560320" cy="2560320"/>
          </a:xfrm>
          <a:prstGeom prst="ellipse">
            <a:avLst/>
          </a:prstGeom>
          <a:solidFill>
            <a:srgbClr val="A855F7">
              <a:alpha val="7000"/>
            </a:srgbClr>
          </a:solidFill>
          <a:ln w="12700">
            <a:solidFill>
              <a:srgbClr val="A855F7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0" y="1371600"/>
            <a:ext cx="1371600" cy="1371600"/>
          </a:xfrm>
          <a:prstGeom prst="ellipse">
            <a:avLst/>
          </a:prstGeom>
          <a:solidFill>
            <a:srgbClr val="FF0080">
              <a:alpha val="5000"/>
            </a:srgbClr>
          </a:solidFill>
          <a:ln w="12700">
            <a:solidFill>
              <a:srgbClr val="FF0080">
                <a:alpha val="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4592"/>
            <a:ext cx="8412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FFFFFF"/>
                </a:solidFill>
                <a:latin typeface="Calibri"/>
              </a:rPr>
              <a:t>FUTURE ENHANCEMENTS</a:t>
            </a:r>
          </a:p>
          <a:p>
            <a:pPr algn="ctr"/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D60A23-D094-4932-BEA2-797D1A6C9613}"/>
              </a:ext>
            </a:extLst>
          </p:cNvPr>
          <p:cNvSpPr txBox="1"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D4FF"/>
                </a:solidFill>
                <a:latin typeface="Calibri"/>
              </a:rPr>
              <a:t>Planned features to scale </a:t>
            </a:r>
            <a:r>
              <a:rPr sz="1200" b="0" i="0" dirty="0" err="1">
                <a:solidFill>
                  <a:srgbClr val="00D4FF"/>
                </a:solidFill>
                <a:latin typeface="Calibri"/>
              </a:rPr>
              <a:t>GameHub</a:t>
            </a:r>
            <a:r>
              <a:rPr sz="1200" b="0" i="0" dirty="0">
                <a:solidFill>
                  <a:srgbClr val="00D4FF"/>
                </a:solidFill>
                <a:latin typeface="Calibri"/>
              </a:rPr>
              <a:t> into a full-featured gaming platform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46FADA9-613D-4C5D-9FBF-9947015E3F3E}"/>
              </a:ext>
            </a:extLst>
          </p:cNvPr>
          <p:cNvSpPr/>
          <p:nvPr/>
        </p:nvSpPr>
        <p:spPr>
          <a:xfrm>
            <a:off x="320040" y="1207008"/>
            <a:ext cx="2743200" cy="13716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210646-740A-478F-AE35-5AF1623B8FA5}"/>
              </a:ext>
            </a:extLst>
          </p:cNvPr>
          <p:cNvSpPr txBox="1"/>
          <p:nvPr/>
        </p:nvSpPr>
        <p:spPr>
          <a:xfrm>
            <a:off x="429768" y="1737360"/>
            <a:ext cx="2542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6B8BA4"/>
                </a:solidFill>
                <a:latin typeface="Calibri"/>
              </a:rPr>
              <a:t>An in-platform chatbot that answers game questions, gives </a:t>
            </a:r>
            <a:r>
              <a:rPr sz="850" b="0" i="0" dirty="0" err="1">
                <a:solidFill>
                  <a:srgbClr val="6B8BA4"/>
                </a:solidFill>
                <a:latin typeface="Calibri"/>
              </a:rPr>
              <a:t>personalised</a:t>
            </a:r>
            <a:r>
              <a:rPr sz="850" b="0" i="0" dirty="0">
                <a:solidFill>
                  <a:srgbClr val="6B8BA4"/>
                </a:solidFill>
                <a:latin typeface="Calibri"/>
              </a:rPr>
              <a:t> recommendations via natural language, and helps users find games matching mood or playtime.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F1FC16-D118-4A99-8D23-D85E877AF6C4}"/>
              </a:ext>
            </a:extLst>
          </p:cNvPr>
          <p:cNvSpPr txBox="1"/>
          <p:nvPr/>
        </p:nvSpPr>
        <p:spPr>
          <a:xfrm>
            <a:off x="429768" y="129844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D4FF"/>
                </a:solidFill>
                <a:latin typeface="Calibri"/>
              </a:rPr>
              <a:t>AI-Powered Chat Assistant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F9B1703-FF18-4F44-9C8B-207AF73467FF}"/>
              </a:ext>
            </a:extLst>
          </p:cNvPr>
          <p:cNvSpPr/>
          <p:nvPr/>
        </p:nvSpPr>
        <p:spPr>
          <a:xfrm>
            <a:off x="320040" y="2743200"/>
            <a:ext cx="2743200" cy="137160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96DBF5E-EB0D-40D5-9681-3196BC2C1EA6}"/>
              </a:ext>
            </a:extLst>
          </p:cNvPr>
          <p:cNvSpPr txBox="1"/>
          <p:nvPr/>
        </p:nvSpPr>
        <p:spPr>
          <a:xfrm>
            <a:off x="429768" y="28346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0080"/>
                </a:solidFill>
                <a:latin typeface="Calibri"/>
              </a:rPr>
              <a:t>Achievement &amp; Badge System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3FA368B-CB7B-4A4B-B83A-4BE097C4446B}"/>
              </a:ext>
            </a:extLst>
          </p:cNvPr>
          <p:cNvSpPr txBox="1"/>
          <p:nvPr/>
        </p:nvSpPr>
        <p:spPr>
          <a:xfrm>
            <a:off x="429768" y="3273552"/>
            <a:ext cx="2542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6B8BA4"/>
                </a:solidFill>
                <a:latin typeface="Calibri"/>
              </a:rPr>
              <a:t>Gamified user profiles with badges earned for writing reviews, adding games, logging hours, and completing collection goals. Leaderboard ranking.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4F04F5A-B4A3-443A-BE71-8C30961841E1}"/>
              </a:ext>
            </a:extLst>
          </p:cNvPr>
          <p:cNvSpPr txBox="1"/>
          <p:nvPr/>
        </p:nvSpPr>
        <p:spPr>
          <a:xfrm>
            <a:off x="3310128" y="129844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Calibri"/>
              </a:rPr>
              <a:t>Mobile App (Android &amp; iOS)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56269A4-5D2A-4053-B04F-E957A91A07C5}"/>
              </a:ext>
            </a:extLst>
          </p:cNvPr>
          <p:cNvSpPr/>
          <p:nvPr/>
        </p:nvSpPr>
        <p:spPr>
          <a:xfrm>
            <a:off x="3200400" y="1207008"/>
            <a:ext cx="2743200" cy="137160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68BF5D9-58DE-4BC7-A4C4-A6D24F926FC9}"/>
              </a:ext>
            </a:extLst>
          </p:cNvPr>
          <p:cNvSpPr txBox="1"/>
          <p:nvPr/>
        </p:nvSpPr>
        <p:spPr>
          <a:xfrm>
            <a:off x="3355848" y="134239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Calibri"/>
              </a:rPr>
              <a:t>Mobile App (Android &amp; iOS)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AE076A0-11BB-41C4-8BAF-524BF5BCE58B}"/>
              </a:ext>
            </a:extLst>
          </p:cNvPr>
          <p:cNvSpPr txBox="1"/>
          <p:nvPr/>
        </p:nvSpPr>
        <p:spPr>
          <a:xfrm>
            <a:off x="3310128" y="1737360"/>
            <a:ext cx="2542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BA4"/>
                </a:solidFill>
                <a:latin typeface="Calibri"/>
              </a:rPr>
              <a:t>Native mobile application with push notifications for wishlist price drops, new game alerts, and partner match requests. Offline browsing of saved games.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68BAC54-6DF7-4F93-A70B-5F55E2FB4CCD}"/>
              </a:ext>
            </a:extLst>
          </p:cNvPr>
          <p:cNvSpPr/>
          <p:nvPr/>
        </p:nvSpPr>
        <p:spPr>
          <a:xfrm>
            <a:off x="6080759" y="1207008"/>
            <a:ext cx="2743200" cy="137160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2A54B84-322E-44EE-AF29-74C27864558A}"/>
              </a:ext>
            </a:extLst>
          </p:cNvPr>
          <p:cNvSpPr txBox="1"/>
          <p:nvPr/>
        </p:nvSpPr>
        <p:spPr>
          <a:xfrm>
            <a:off x="6190488" y="1737360"/>
            <a:ext cx="2542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BA4"/>
                </a:solidFill>
                <a:latin typeface="Calibri"/>
              </a:rPr>
              <a:t>Integrate Steam/Epic/GOG APIs to track real game prices. Email/SMS alerts when a wishlisted game goes on sale. Historical price charts per game.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6CD601C-0E2B-4CA1-BE70-1742F7E67622}"/>
              </a:ext>
            </a:extLst>
          </p:cNvPr>
          <p:cNvSpPr txBox="1"/>
          <p:nvPr/>
        </p:nvSpPr>
        <p:spPr>
          <a:xfrm>
            <a:off x="6190488" y="129844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Price Tracker &amp; Deal Alerts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F4C23F8-314E-433A-9050-DED3AB532DE1}"/>
              </a:ext>
            </a:extLst>
          </p:cNvPr>
          <p:cNvSpPr/>
          <p:nvPr/>
        </p:nvSpPr>
        <p:spPr>
          <a:xfrm>
            <a:off x="3200400" y="2743200"/>
            <a:ext cx="2743200" cy="1371600"/>
          </a:xfrm>
          <a:prstGeom prst="rect">
            <a:avLst/>
          </a:prstGeom>
          <a:solidFill>
            <a:srgbClr val="0F1A2E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1FCDD2-4B03-4CBB-B152-A865A808FD7A}"/>
              </a:ext>
            </a:extLst>
          </p:cNvPr>
          <p:cNvSpPr txBox="1"/>
          <p:nvPr/>
        </p:nvSpPr>
        <p:spPr>
          <a:xfrm>
            <a:off x="3310128" y="28346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FF14"/>
                </a:solidFill>
                <a:latin typeface="Calibri"/>
              </a:rPr>
              <a:t>Multi-Language Support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AE87962-655D-4719-9011-E55E2DC40894}"/>
              </a:ext>
            </a:extLst>
          </p:cNvPr>
          <p:cNvSpPr txBox="1"/>
          <p:nvPr/>
        </p:nvSpPr>
        <p:spPr>
          <a:xfrm>
            <a:off x="3310128" y="3273552"/>
            <a:ext cx="2542032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6B8BA4"/>
                </a:solidFill>
                <a:latin typeface="Calibri"/>
              </a:rPr>
              <a:t>Internationalisation</a:t>
            </a:r>
            <a:r>
              <a:rPr sz="850" b="0" i="0" dirty="0">
                <a:solidFill>
                  <a:srgbClr val="6B8BA4"/>
                </a:solidFill>
                <a:latin typeface="Calibri"/>
              </a:rPr>
              <a:t> </a:t>
            </a:r>
            <a:r>
              <a:rPr lang="en-US" sz="850" dirty="0">
                <a:solidFill>
                  <a:srgbClr val="6B8BA4"/>
                </a:solidFill>
                <a:latin typeface="Calibri"/>
              </a:rPr>
              <a:t> </a:t>
            </a:r>
            <a:r>
              <a:rPr sz="850" b="0" i="0" dirty="0">
                <a:solidFill>
                  <a:srgbClr val="6B8BA4"/>
                </a:solidFill>
                <a:latin typeface="Calibri"/>
              </a:rPr>
              <a:t>support for Urdu, Arabic, French, Spanish and more. Auto-detect browser language and allow users to set preferred language.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00B923B-9910-410A-B5A7-44164426A618}"/>
              </a:ext>
            </a:extLst>
          </p:cNvPr>
          <p:cNvSpPr/>
          <p:nvPr/>
        </p:nvSpPr>
        <p:spPr>
          <a:xfrm>
            <a:off x="6080759" y="2743200"/>
            <a:ext cx="2743200" cy="1371600"/>
          </a:xfrm>
          <a:prstGeom prst="rect">
            <a:avLst/>
          </a:prstGeom>
          <a:solidFill>
            <a:srgbClr val="0F1A2E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16CBE2B-228C-434A-AF0C-766DEE1DCD65}"/>
              </a:ext>
            </a:extLst>
          </p:cNvPr>
          <p:cNvSpPr txBox="1"/>
          <p:nvPr/>
        </p:nvSpPr>
        <p:spPr>
          <a:xfrm>
            <a:off x="6190488" y="3273552"/>
            <a:ext cx="2542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BA4"/>
                </a:solidFill>
                <a:latin typeface="Calibri"/>
              </a:rPr>
              <a:t>Embed YouTube trailers and screenshot galleries on each game detail page. Admin can attach media URLs. Users can report broken links.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6E484A3-1ECE-4925-BAA4-FB62D34716D5}"/>
              </a:ext>
            </a:extLst>
          </p:cNvPr>
          <p:cNvSpPr txBox="1"/>
          <p:nvPr/>
        </p:nvSpPr>
        <p:spPr>
          <a:xfrm>
            <a:off x="6190488" y="28346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Calibri"/>
              </a:rPr>
              <a:t>Game Trailers &amp; Media Gallery</a:t>
            </a:r>
          </a:p>
        </p:txBody>
      </p:sp>
    </p:spTree>
    <p:extLst>
      <p:ext uri="{BB962C8B-B14F-4D97-AF65-F5344CB8AC3E}">
        <p14:creationId xmlns:p14="http://schemas.microsoft.com/office/powerpoint/2010/main" val="2039077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914400" y="2926080"/>
            <a:ext cx="2560320" cy="2560320"/>
          </a:xfrm>
          <a:prstGeom prst="ellipse">
            <a:avLst/>
          </a:prstGeom>
          <a:solidFill>
            <a:srgbClr val="A855F7">
              <a:alpha val="7000"/>
            </a:srgbClr>
          </a:solidFill>
          <a:ln w="12700">
            <a:solidFill>
              <a:srgbClr val="A855F7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0" y="1371600"/>
            <a:ext cx="1371600" cy="1371600"/>
          </a:xfrm>
          <a:prstGeom prst="ellipse">
            <a:avLst/>
          </a:prstGeom>
          <a:solidFill>
            <a:srgbClr val="FF0080">
              <a:alpha val="5000"/>
            </a:srgbClr>
          </a:solidFill>
          <a:ln w="12700">
            <a:solidFill>
              <a:srgbClr val="FF0080">
                <a:alpha val="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4592"/>
            <a:ext cx="8412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FFFFFF"/>
                </a:solidFill>
                <a:latin typeface="Calibri"/>
              </a:rPr>
              <a:t>FUTURE ENHANCEMENTS — Advanced Roadmap</a:t>
            </a:r>
          </a:p>
          <a:p>
            <a:pPr algn="ctr"/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CC9BA8-2F70-464D-B56B-F50784A5BEAA}"/>
              </a:ext>
            </a:extLst>
          </p:cNvPr>
          <p:cNvSpPr txBox="1"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855F7"/>
                </a:solidFill>
                <a:latin typeface="Calibri"/>
              </a:rPr>
              <a:t>Long-term vision to transform </a:t>
            </a:r>
            <a:r>
              <a:rPr sz="1200" b="0" i="0" dirty="0" err="1">
                <a:solidFill>
                  <a:srgbClr val="A855F7"/>
                </a:solidFill>
                <a:latin typeface="Calibri"/>
              </a:rPr>
              <a:t>GameHub</a:t>
            </a:r>
            <a:r>
              <a:rPr sz="1200" b="0" i="0" dirty="0">
                <a:solidFill>
                  <a:srgbClr val="A855F7"/>
                </a:solidFill>
                <a:latin typeface="Calibri"/>
              </a:rPr>
              <a:t> into a full gaming ecosystem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56156D-6E9A-4863-B0A1-76D74D1F71B5}"/>
              </a:ext>
            </a:extLst>
          </p:cNvPr>
          <p:cNvSpPr/>
          <p:nvPr/>
        </p:nvSpPr>
        <p:spPr>
          <a:xfrm>
            <a:off x="320040" y="1207008"/>
            <a:ext cx="4114800" cy="713232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D90740-51EE-42D8-A752-AECF6C9F0BDA}"/>
              </a:ext>
            </a:extLst>
          </p:cNvPr>
          <p:cNvSpPr txBox="1"/>
          <p:nvPr/>
        </p:nvSpPr>
        <p:spPr>
          <a:xfrm>
            <a:off x="429768" y="12801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0080"/>
                </a:solidFill>
                <a:latin typeface="Calibri"/>
              </a:rPr>
              <a:t>Live Streaming Integration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D0EC11-C83D-43FD-A42D-17CBA9118A7B}"/>
              </a:ext>
            </a:extLst>
          </p:cNvPr>
          <p:cNvSpPr txBox="1"/>
          <p:nvPr/>
        </p:nvSpPr>
        <p:spPr>
          <a:xfrm>
            <a:off x="429768" y="155448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6B8BA4"/>
                </a:solidFill>
                <a:latin typeface="Calibri"/>
              </a:rPr>
              <a:t>Embed Twitch/YouTube live streams per game on the detail page. Show live viewer count. Let users follow their </a:t>
            </a:r>
            <a:r>
              <a:rPr sz="850" b="0" i="0" dirty="0" err="1">
                <a:solidFill>
                  <a:srgbClr val="6B8BA4"/>
                </a:solidFill>
                <a:latin typeface="Calibri"/>
              </a:rPr>
              <a:t>favourite</a:t>
            </a:r>
            <a:r>
              <a:rPr sz="850" b="0" i="0" dirty="0">
                <a:solidFill>
                  <a:srgbClr val="6B8BA4"/>
                </a:solidFill>
                <a:latin typeface="Calibri"/>
              </a:rPr>
              <a:t> streamers directly from </a:t>
            </a:r>
            <a:r>
              <a:rPr sz="850" b="0" i="0" dirty="0" err="1">
                <a:solidFill>
                  <a:srgbClr val="6B8BA4"/>
                </a:solidFill>
                <a:latin typeface="Calibri"/>
              </a:rPr>
              <a:t>GameHub</a:t>
            </a:r>
            <a:r>
              <a:rPr sz="850" b="0" i="0" dirty="0">
                <a:solidFill>
                  <a:srgbClr val="6B8BA4"/>
                </a:solidFill>
                <a:latin typeface="Calibri"/>
              </a:rPr>
              <a:t>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715D29-D10D-4267-89D6-BA0938BBBD2D}"/>
              </a:ext>
            </a:extLst>
          </p:cNvPr>
          <p:cNvSpPr/>
          <p:nvPr/>
        </p:nvSpPr>
        <p:spPr>
          <a:xfrm>
            <a:off x="320040" y="2011680"/>
            <a:ext cx="4114800" cy="713232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E1047D7-03C3-475A-AA60-F8AD2EF37948}"/>
              </a:ext>
            </a:extLst>
          </p:cNvPr>
          <p:cNvSpPr/>
          <p:nvPr/>
        </p:nvSpPr>
        <p:spPr>
          <a:xfrm>
            <a:off x="320040" y="2816352"/>
            <a:ext cx="4114800" cy="713232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BAEE948-0E0C-4FDC-80C4-9F11B6833CBB}"/>
              </a:ext>
            </a:extLst>
          </p:cNvPr>
          <p:cNvSpPr/>
          <p:nvPr/>
        </p:nvSpPr>
        <p:spPr>
          <a:xfrm>
            <a:off x="320040" y="3621024"/>
            <a:ext cx="4114800" cy="713232"/>
          </a:xfrm>
          <a:prstGeom prst="rect">
            <a:avLst/>
          </a:prstGeom>
          <a:solidFill>
            <a:srgbClr val="0F1A2E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6FFF7E-FA9E-41FD-A88A-865746A70289}"/>
              </a:ext>
            </a:extLst>
          </p:cNvPr>
          <p:cNvSpPr txBox="1"/>
          <p:nvPr/>
        </p:nvSpPr>
        <p:spPr>
          <a:xfrm>
            <a:off x="429768" y="20848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Game Trading / Lending Board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CFF916-4FD0-42B0-9446-8AED9E479560}"/>
              </a:ext>
            </a:extLst>
          </p:cNvPr>
          <p:cNvSpPr txBox="1"/>
          <p:nvPr/>
        </p:nvSpPr>
        <p:spPr>
          <a:xfrm>
            <a:off x="429768" y="235915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6B8BA4"/>
                </a:solidFill>
                <a:latin typeface="Calibri"/>
              </a:rPr>
              <a:t>Peer-to-peer marketplace where users can list physical games to trade or lend locally. Escrow-style trust system with rating-based verification.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41ACE9-7AAE-4488-ADDE-AECE237E089C}"/>
              </a:ext>
            </a:extLst>
          </p:cNvPr>
          <p:cNvSpPr txBox="1"/>
          <p:nvPr/>
        </p:nvSpPr>
        <p:spPr>
          <a:xfrm>
            <a:off x="429768" y="28895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Advanced Analytics Dashboard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D1B030-5A56-4395-B01E-58D7F1839D18}"/>
              </a:ext>
            </a:extLst>
          </p:cNvPr>
          <p:cNvSpPr txBox="1"/>
          <p:nvPr/>
        </p:nvSpPr>
        <p:spPr>
          <a:xfrm>
            <a:off x="429768" y="316382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6B8BA4"/>
                </a:solidFill>
                <a:latin typeface="Calibri"/>
              </a:rPr>
              <a:t>Detailed admin charts: user retention curves, genre popularity trends over time, review sentiment analysis using NLP, heatmaps of most visited pages.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D17A40-BF29-4D85-AA40-F4D9D54C3C5D}"/>
              </a:ext>
            </a:extLst>
          </p:cNvPr>
          <p:cNvSpPr txBox="1"/>
          <p:nvPr/>
        </p:nvSpPr>
        <p:spPr>
          <a:xfrm>
            <a:off x="429768" y="36941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FF14"/>
                </a:solidFill>
                <a:latin typeface="Calibri"/>
              </a:rPr>
              <a:t>Cloud Save &amp; Cross-Device Sync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199009-B925-4344-801A-47302BEB8B6D}"/>
              </a:ext>
            </a:extLst>
          </p:cNvPr>
          <p:cNvSpPr txBox="1"/>
          <p:nvPr/>
        </p:nvSpPr>
        <p:spPr>
          <a:xfrm>
            <a:off x="429768" y="396849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BA4"/>
                </a:solidFill>
                <a:latin typeface="Calibri"/>
              </a:rPr>
              <a:t>Let users sync their wishlist, preferences and profile across devices via cloud account. PWA support for offline access on mobile browsers.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059405-D984-419E-B56A-7A0416128B44}"/>
              </a:ext>
            </a:extLst>
          </p:cNvPr>
          <p:cNvSpPr/>
          <p:nvPr/>
        </p:nvSpPr>
        <p:spPr>
          <a:xfrm>
            <a:off x="4709160" y="1207008"/>
            <a:ext cx="4069080" cy="3218688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9EC7E27-1B0D-458D-B8C7-ADB7AFE46B37}"/>
              </a:ext>
            </a:extLst>
          </p:cNvPr>
          <p:cNvSpPr/>
          <p:nvPr/>
        </p:nvSpPr>
        <p:spPr>
          <a:xfrm>
            <a:off x="4709160" y="1207008"/>
            <a:ext cx="4069080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A7E4B0-EBF9-4B06-A950-B493C5DE442F}"/>
              </a:ext>
            </a:extLst>
          </p:cNvPr>
          <p:cNvSpPr txBox="1"/>
          <p:nvPr/>
        </p:nvSpPr>
        <p:spPr>
          <a:xfrm>
            <a:off x="4846320" y="122529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DAEC02B-9561-4E46-A3FE-6ABA4BAEA492}"/>
              </a:ext>
            </a:extLst>
          </p:cNvPr>
          <p:cNvSpPr/>
          <p:nvPr/>
        </p:nvSpPr>
        <p:spPr>
          <a:xfrm>
            <a:off x="4800600" y="1682496"/>
            <a:ext cx="3840480" cy="256032"/>
          </a:xfrm>
          <a:prstGeom prst="rect">
            <a:avLst/>
          </a:prstGeom>
          <a:solidFill>
            <a:srgbClr val="060A1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1FBDDD-CFDE-4355-8712-0B7B3DD49C4A}"/>
              </a:ext>
            </a:extLst>
          </p:cNvPr>
          <p:cNvSpPr txBox="1"/>
          <p:nvPr/>
        </p:nvSpPr>
        <p:spPr>
          <a:xfrm>
            <a:off x="4892040" y="16916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0D4FF"/>
                </a:solidFill>
                <a:latin typeface="Calibri"/>
              </a:rPr>
              <a:t>Phase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BE1858-E565-40FD-A53C-DB9EDB8C358D}"/>
              </a:ext>
            </a:extLst>
          </p:cNvPr>
          <p:cNvSpPr txBox="1"/>
          <p:nvPr/>
        </p:nvSpPr>
        <p:spPr>
          <a:xfrm>
            <a:off x="4818888" y="1993392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alibri"/>
              </a:rPr>
              <a:t>Mobile App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5BC588-D764-40F1-9623-224572CF342C}"/>
              </a:ext>
            </a:extLst>
          </p:cNvPr>
          <p:cNvSpPr txBox="1"/>
          <p:nvPr/>
        </p:nvSpPr>
        <p:spPr>
          <a:xfrm>
            <a:off x="5788152" y="1993392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alibri"/>
              </a:rPr>
              <a:t>Price Tracker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913950-7C15-4427-BDA5-FE4D38174210}"/>
              </a:ext>
            </a:extLst>
          </p:cNvPr>
          <p:cNvSpPr txBox="1"/>
          <p:nvPr/>
        </p:nvSpPr>
        <p:spPr>
          <a:xfrm>
            <a:off x="6757416" y="1993392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alibri"/>
              </a:rPr>
              <a:t>AI Chatbot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855ABF-5087-443E-AAC5-037EB50160DF}"/>
              </a:ext>
            </a:extLst>
          </p:cNvPr>
          <p:cNvSpPr txBox="1"/>
          <p:nvPr/>
        </p:nvSpPr>
        <p:spPr>
          <a:xfrm>
            <a:off x="7726679" y="1993392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00D4FF"/>
                </a:solidFill>
                <a:latin typeface="Calibri"/>
              </a:rPr>
              <a:t>Game Trailers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AA62B2-9B00-4D6C-83A4-6F31A82860AD}"/>
              </a:ext>
            </a:extLst>
          </p:cNvPr>
          <p:cNvSpPr/>
          <p:nvPr/>
        </p:nvSpPr>
        <p:spPr>
          <a:xfrm>
            <a:off x="4800600" y="2377440"/>
            <a:ext cx="3840480" cy="256032"/>
          </a:xfrm>
          <a:prstGeom prst="rect">
            <a:avLst/>
          </a:prstGeom>
          <a:solidFill>
            <a:srgbClr val="060A1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2943EB-6D91-441D-AA9C-C51C7F4325B3}"/>
              </a:ext>
            </a:extLst>
          </p:cNvPr>
          <p:cNvSpPr txBox="1"/>
          <p:nvPr/>
        </p:nvSpPr>
        <p:spPr>
          <a:xfrm>
            <a:off x="4892040" y="238658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A855F7"/>
                </a:solidFill>
                <a:latin typeface="Calibri"/>
              </a:rPr>
              <a:t>Phase 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85EBEA-5812-4DE1-8DF5-A4CC5B87707A}"/>
              </a:ext>
            </a:extLst>
          </p:cNvPr>
          <p:cNvSpPr txBox="1"/>
          <p:nvPr/>
        </p:nvSpPr>
        <p:spPr>
          <a:xfrm>
            <a:off x="4818888" y="2688336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A855F7"/>
                </a:solidFill>
                <a:latin typeface="Calibri"/>
              </a:rPr>
              <a:t>Achievements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5A3B825-DE95-46C2-A30E-5294B6DEFB25}"/>
              </a:ext>
            </a:extLst>
          </p:cNvPr>
          <p:cNvSpPr txBox="1"/>
          <p:nvPr/>
        </p:nvSpPr>
        <p:spPr>
          <a:xfrm>
            <a:off x="5788152" y="2688336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855F7"/>
                </a:solidFill>
                <a:latin typeface="Calibri"/>
              </a:rPr>
              <a:t>Multi-Language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149E8B8-6293-41BA-AB8D-DDE1351BD37E}"/>
              </a:ext>
            </a:extLst>
          </p:cNvPr>
          <p:cNvSpPr txBox="1"/>
          <p:nvPr/>
        </p:nvSpPr>
        <p:spPr>
          <a:xfrm>
            <a:off x="6757416" y="2688336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A855F7"/>
                </a:solidFill>
                <a:latin typeface="Calibri"/>
              </a:rPr>
              <a:t>Live Streams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325BD1-F4AF-41CD-B483-0F8B2935CB9D}"/>
              </a:ext>
            </a:extLst>
          </p:cNvPr>
          <p:cNvSpPr txBox="1"/>
          <p:nvPr/>
        </p:nvSpPr>
        <p:spPr>
          <a:xfrm>
            <a:off x="7726679" y="2670048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A855F7"/>
                </a:solidFill>
                <a:latin typeface="Calibri"/>
              </a:rPr>
              <a:t>Advanced Analytics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8E36D1D-B8AA-403A-A56C-70E9B9BADB72}"/>
              </a:ext>
            </a:extLst>
          </p:cNvPr>
          <p:cNvSpPr/>
          <p:nvPr/>
        </p:nvSpPr>
        <p:spPr>
          <a:xfrm>
            <a:off x="4800600" y="3072384"/>
            <a:ext cx="3840480" cy="256032"/>
          </a:xfrm>
          <a:prstGeom prst="rect">
            <a:avLst/>
          </a:prstGeom>
          <a:solidFill>
            <a:srgbClr val="060A14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3F3FB6-6AD0-4DC2-82A8-6EEE88000CAC}"/>
              </a:ext>
            </a:extLst>
          </p:cNvPr>
          <p:cNvSpPr txBox="1"/>
          <p:nvPr/>
        </p:nvSpPr>
        <p:spPr>
          <a:xfrm>
            <a:off x="4892040" y="308152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FD700"/>
                </a:solidFill>
                <a:latin typeface="Calibri"/>
              </a:rPr>
              <a:t>Phase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DDE272-6355-427B-98A4-D89BE9F56F9B}"/>
              </a:ext>
            </a:extLst>
          </p:cNvPr>
          <p:cNvSpPr txBox="1"/>
          <p:nvPr/>
        </p:nvSpPr>
        <p:spPr>
          <a:xfrm>
            <a:off x="4818888" y="3383280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D700"/>
                </a:solidFill>
                <a:latin typeface="Calibri"/>
              </a:rPr>
              <a:t>Trading Board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92835A-3959-44C5-A348-0464BEED4C37}"/>
              </a:ext>
            </a:extLst>
          </p:cNvPr>
          <p:cNvSpPr txBox="1"/>
          <p:nvPr/>
        </p:nvSpPr>
        <p:spPr>
          <a:xfrm>
            <a:off x="5788152" y="3383280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D700"/>
                </a:solidFill>
                <a:latin typeface="Calibri"/>
              </a:rPr>
              <a:t>Cloud Sync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485C52B-9A4B-4979-8420-B4771104FCDF}"/>
              </a:ext>
            </a:extLst>
          </p:cNvPr>
          <p:cNvSpPr txBox="1"/>
          <p:nvPr/>
        </p:nvSpPr>
        <p:spPr>
          <a:xfrm>
            <a:off x="6757416" y="3383280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D700"/>
                </a:solidFill>
                <a:latin typeface="Calibri"/>
              </a:rPr>
              <a:t>PWA Support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5CADB15-DF18-4B9B-91EE-BB08E14D4446}"/>
              </a:ext>
            </a:extLst>
          </p:cNvPr>
          <p:cNvSpPr txBox="1"/>
          <p:nvPr/>
        </p:nvSpPr>
        <p:spPr>
          <a:xfrm>
            <a:off x="7726679" y="3383280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FFD700"/>
                </a:solidFill>
                <a:latin typeface="Calibri"/>
              </a:rPr>
              <a:t>NLP Reviews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F4AD86-ED2A-4152-9CA2-C175E4CA6795}"/>
              </a:ext>
            </a:extLst>
          </p:cNvPr>
          <p:cNvSpPr txBox="1"/>
          <p:nvPr/>
        </p:nvSpPr>
        <p:spPr>
          <a:xfrm>
            <a:off x="4892040" y="377647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FF14"/>
                </a:solidFill>
                <a:latin typeface="Calibri"/>
              </a:rPr>
              <a:t>Phase 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AC450D6-234B-4F02-84D3-72CCAECAAE13}"/>
              </a:ext>
            </a:extLst>
          </p:cNvPr>
          <p:cNvSpPr/>
          <p:nvPr/>
        </p:nvSpPr>
        <p:spPr>
          <a:xfrm>
            <a:off x="4800600" y="3767328"/>
            <a:ext cx="3840480" cy="256032"/>
          </a:xfrm>
          <a:prstGeom prst="rect">
            <a:avLst/>
          </a:prstGeom>
          <a:solidFill>
            <a:srgbClr val="060A14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554BF5C-5DCF-44C6-B20E-7F7B6F980E9D}"/>
              </a:ext>
            </a:extLst>
          </p:cNvPr>
          <p:cNvSpPr txBox="1"/>
          <p:nvPr/>
        </p:nvSpPr>
        <p:spPr>
          <a:xfrm>
            <a:off x="4830935" y="375818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39FF14"/>
                </a:solidFill>
                <a:latin typeface="Calibri"/>
              </a:rPr>
              <a:t>Phase 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966B99C-F39B-4B03-B658-BB74863E9C45}"/>
              </a:ext>
            </a:extLst>
          </p:cNvPr>
          <p:cNvSpPr txBox="1"/>
          <p:nvPr/>
        </p:nvSpPr>
        <p:spPr>
          <a:xfrm>
            <a:off x="4818888" y="4078224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39FF14"/>
                </a:solidFill>
                <a:latin typeface="Calibri"/>
              </a:rPr>
              <a:t>Esports Hub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5E0C5B0-89FE-4E1B-B8BB-EBB89F8CCC2D}"/>
              </a:ext>
            </a:extLst>
          </p:cNvPr>
          <p:cNvSpPr txBox="1"/>
          <p:nvPr/>
        </p:nvSpPr>
        <p:spPr>
          <a:xfrm>
            <a:off x="5788152" y="4078224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9FF14"/>
                </a:solidFill>
                <a:latin typeface="Calibri"/>
              </a:rPr>
              <a:t>Game API Partner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B33779A-63EE-49CE-A385-42355F1D15C6}"/>
              </a:ext>
            </a:extLst>
          </p:cNvPr>
          <p:cNvSpPr txBox="1"/>
          <p:nvPr/>
        </p:nvSpPr>
        <p:spPr>
          <a:xfrm>
            <a:off x="6757416" y="4078224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 err="1">
                <a:solidFill>
                  <a:srgbClr val="39FF14"/>
                </a:solidFill>
                <a:latin typeface="Calibri"/>
              </a:rPr>
              <a:t>Monetisation</a:t>
            </a:r>
            <a:endParaRPr sz="700" b="0" i="0" dirty="0">
              <a:solidFill>
                <a:srgbClr val="39FF14"/>
              </a:solidFill>
              <a:latin typeface="Calibri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BD5099-789E-467B-870C-326AD25F0C46}"/>
              </a:ext>
            </a:extLst>
          </p:cNvPr>
          <p:cNvSpPr txBox="1"/>
          <p:nvPr/>
        </p:nvSpPr>
        <p:spPr>
          <a:xfrm>
            <a:off x="7726679" y="4078224"/>
            <a:ext cx="850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9FF14"/>
                </a:solidFill>
                <a:latin typeface="Calibri"/>
              </a:rPr>
              <a:t>Mobile Native</a:t>
            </a:r>
          </a:p>
        </p:txBody>
      </p:sp>
    </p:spTree>
    <p:extLst>
      <p:ext uri="{BB962C8B-B14F-4D97-AF65-F5344CB8AC3E}">
        <p14:creationId xmlns:p14="http://schemas.microsoft.com/office/powerpoint/2010/main" val="2104031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109728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A3050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2743200"/>
            <a:ext cx="2743200" cy="27432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457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🎮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PC Game Discovery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944368"/>
            <a:ext cx="2743200" cy="36576"/>
          </a:xfrm>
          <a:prstGeom prst="rect">
            <a:avLst/>
          </a:prstGeom>
          <a:solidFill>
            <a:srgbClr val="6B8BA4">
              <a:alpha val="40000"/>
            </a:srgbClr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3108960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108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39112" y="3108960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3108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184" y="3108960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3108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77256" y="3108960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7256" y="3108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Compatibility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96328" y="3108960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3108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Finder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478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39112" y="3547872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39112" y="35478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58184" y="3547872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35478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77256" y="3547872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7256" y="35478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96328" y="3547872"/>
            <a:ext cx="1627632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6328" y="35478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Links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PHP · MySQL · HTML · CSS · JavaScript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1A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·  Computer Science Department  ·  BS Software Engineering  ·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2448</Words>
  <Application>Microsoft Office PowerPoint</Application>
  <PresentationFormat>On-screen Show (16:9)</PresentationFormat>
  <Paragraphs>481</Paragraphs>
  <Slides>32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GameHub — Smart PC Game Discovery Platform</dc:title>
  <dc:subject>PptxGenJS Presentation</dc:subject>
  <dc:creator>PptxGenJS</dc:creator>
  <cp:lastModifiedBy>Mohammad Hashim</cp:lastModifiedBy>
  <cp:revision>7</cp:revision>
  <dcterms:created xsi:type="dcterms:W3CDTF">2026-05-30T12:13:49Z</dcterms:created>
  <dcterms:modified xsi:type="dcterms:W3CDTF">2026-05-31T14:56:06Z</dcterms:modified>
</cp:coreProperties>
</file>